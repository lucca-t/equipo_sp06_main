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901F55-4B29-4726-A933-6B098290FB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46BE16-CDD1-4831-B9E2-C4CEFA2B2F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80F7E1-4A74-494C-9C09-0C63BA7F94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348416-9445-4959-92F2-3E9B63F012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4ADEF1-5815-406B-B264-017B919E81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E07134-439C-4457-AC79-70BF64D09D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2C5396-5145-4F2A-BC30-5D8250958F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76C97B-31F4-4E07-8957-69D4E78456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B36AC2-C184-479E-8D73-1DCCFE64AA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FF4BB8-E0AF-4905-8B61-EA411A4CAF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F8E53F-1716-4292-8B17-2C3C69B2E2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731520" y="1645920"/>
            <a:ext cx="136800" cy="3474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097280" y="1463040"/>
            <a:ext cx="100580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SITUACIÓN PROBLEMA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Análisis Algorítmico de Código Malicioso en Transmisiones de Datos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Análisis y Diseño de Algoritmos Avanzados (Gpo 602)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Arial"/>
              </a:rPr>
              <a:t>Equipo 06:  Lucca Traslosheros Abascal  |  Oscar Lopez Cardoso</a:t>
            </a:r>
            <a:br>
              <a:rPr sz="1300"/>
            </a:b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Arial"/>
              </a:rPr>
              <a:t>Profesora: Ramona Fuentes Valdéz  •  Campus Querétaro  •  23 de septiembre de 2026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731520" y="457200"/>
            <a:ext cx="1072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INTRODUCCIÓN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Contexto del Problema y Objetivos del Análisis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2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ounded Rectangle 3"/>
          <p:cNvSpPr/>
          <p:nvPr/>
        </p:nvSpPr>
        <p:spPr>
          <a:xfrm>
            <a:off x="731520" y="1737360"/>
            <a:ext cx="332820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86868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Normalización de Texto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Limpieza de saltos de línea (\n, \r) para obtener cadenas continuas antes de ejecutar los algoritmos.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4"/>
          <p:cNvSpPr/>
          <p:nvPr/>
        </p:nvSpPr>
        <p:spPr>
          <a:xfrm>
            <a:off x="731520" y="1737360"/>
            <a:ext cx="3328200" cy="6854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1. PREPROCESAMIENTO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5"/>
          <p:cNvSpPr/>
          <p:nvPr/>
        </p:nvSpPr>
        <p:spPr>
          <a:xfrm>
            <a:off x="4425840" y="1737360"/>
            <a:ext cx="332820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86868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Búsqueda con KMP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Identificación exacta de firmas de código malicioso en tiempo lineal sin retrocesos redundantes.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6"/>
          <p:cNvSpPr/>
          <p:nvPr/>
        </p:nvSpPr>
        <p:spPr>
          <a:xfrm>
            <a:off x="4425840" y="1737360"/>
            <a:ext cx="3328200" cy="6854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 PATRONES MALICIOSOS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7"/>
          <p:cNvSpPr/>
          <p:nvPr/>
        </p:nvSpPr>
        <p:spPr>
          <a:xfrm>
            <a:off x="8119800" y="1737360"/>
            <a:ext cx="332820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86868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Manacher y LCS (DP)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Detección de código espejeado (palíndromos) y regiones continuas comunes entre transmisiones.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8"/>
          <p:cNvSpPr/>
          <p:nvPr/>
        </p:nvSpPr>
        <p:spPr>
          <a:xfrm>
            <a:off x="8119800" y="1737360"/>
            <a:ext cx="3328200" cy="6854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3. ANÁLISIS ESTRUCTURAL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731520" y="457200"/>
            <a:ext cx="1072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DISEÑO DE SOFTWARE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Arquitectura Modular del Sistema en C++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ounded Rectangle 3"/>
          <p:cNvSpPr/>
          <p:nvPr/>
        </p:nvSpPr>
        <p:spPr>
          <a:xfrm>
            <a:off x="731520" y="1737360"/>
            <a:ext cx="3291480" cy="43887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ORQUESTADOR CENTRAL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main.cpp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Arial"/>
              </a:rPr>
              <a:t>• Carga transmisiones y patrones de entrada.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Arial"/>
              </a:rPr>
              <a:t>• Ejecuta la limpieza de saltos de línea (\n, \r).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Arial"/>
              </a:rPr>
              <a:t>• Coordina llamadas a los módulos algorítmicos.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Arial"/>
              </a:rPr>
              <a:t>• Muestra resultados con formato base-1.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4"/>
          <p:cNvSpPr/>
          <p:nvPr/>
        </p:nvSpPr>
        <p:spPr>
          <a:xfrm>
            <a:off x="4297680" y="1737360"/>
            <a:ext cx="71622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18288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Módulo KMP (kmp.h)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Búsqueda de patrones maliciosos en tiempo lineal.  |  Retorna indicador booleano e índice inicial (base-1).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5"/>
          <p:cNvSpPr/>
          <p:nvPr/>
        </p:nvSpPr>
        <p:spPr>
          <a:xfrm>
            <a:off x="4297680" y="3264480"/>
            <a:ext cx="71622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18288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Módulo Manacher (manacher.h)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Identificación del palíndromos más largo.  |  Retorna posiciones de inicio y fin del código espejeado.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6"/>
          <p:cNvSpPr/>
          <p:nvPr/>
        </p:nvSpPr>
        <p:spPr>
          <a:xfrm>
            <a:off x="4297680" y="4791600"/>
            <a:ext cx="71622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18288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Módulo LCS DP (longestCommonSubstring.h)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Substring común más largo entre archivos.  |  Optimizado con matriz DP de 2 filas.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731520" y="457200"/>
            <a:ext cx="1072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ALGORITMOS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Parte 1: Búsqueda de Patrones Maliciosos (KMP)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ounded Rectangle 3"/>
          <p:cNvSpPr/>
          <p:nvPr/>
        </p:nvSpPr>
        <p:spPr>
          <a:xfrm>
            <a:off x="731520" y="1737360"/>
            <a:ext cx="517500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FUNCIONAMIENTO Y MECANISMO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Tabla LPS (Longest Prefix Suffix):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Precalcula coincidencias de prefijos para evitar comparaciones repetidas.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Búsqueda sin Retroceso: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El puntero en la transmisión principal nunca retrocede (tiempo lineal).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Formato de Salida: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Un indice o -1. Y main.cpp le da el formato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4"/>
          <p:cNvSpPr/>
          <p:nvPr/>
        </p:nvSpPr>
        <p:spPr>
          <a:xfrm>
            <a:off x="6278400" y="1737360"/>
            <a:ext cx="5175000" cy="20844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COMPLEJIDAD TEMPORAL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O(n + m)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n = tamaño de transmisión, m = tamaño del patrón. Búsqueda en tiempo lineal.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5"/>
          <p:cNvSpPr/>
          <p:nvPr/>
        </p:nvSpPr>
        <p:spPr>
          <a:xfrm>
            <a:off x="6278400" y="4041720"/>
            <a:ext cx="5175000" cy="208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COMPLEJIDAD ESPACIAL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O(m)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Memoria auxiliar requerida exclusivamente para almacenar el arreglo LPS.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731520" y="457200"/>
            <a:ext cx="1072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ALGORITMOS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Parte 2: Detección de Código Espejeado (Manacher)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ounded Rectangle 3"/>
          <p:cNvSpPr/>
          <p:nvPr/>
        </p:nvSpPr>
        <p:spPr>
          <a:xfrm>
            <a:off x="731520" y="1737360"/>
            <a:ext cx="517500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FUNCIONAMIENTO Y MECANISMO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Transformación con Delimitadores (#):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Unifica el tratamiento de palíndromos de longitud par e impar.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Explotación de Simetría: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Reutiliza radios calculados previamente alrededor del centro actual.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Mapeo de Índices: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Convierte las posiciones transformadas a coordenadas originales (base-1).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4"/>
          <p:cNvSpPr/>
          <p:nvPr/>
        </p:nvSpPr>
        <p:spPr>
          <a:xfrm>
            <a:off x="6278400" y="1737360"/>
            <a:ext cx="5175000" cy="20844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COMPLEJIDAD TEMPORAL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O(n)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Tiempo lineal garantizado, evitando el costo cuadrático O(n²) de enfoques ingenuos.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5"/>
          <p:cNvSpPr/>
          <p:nvPr/>
        </p:nvSpPr>
        <p:spPr>
          <a:xfrm>
            <a:off x="6278400" y="4041720"/>
            <a:ext cx="5175000" cy="208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COMPLEJIDAD ESPACIAL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O(n)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Espacio para la cadena transformada y el arreglo auxiliar P de radios.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731520" y="457200"/>
            <a:ext cx="1072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ALGORITMOS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Parte 3: Similitud entre Transmisiones (LCS DP)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ounded Rectangle 3"/>
          <p:cNvSpPr/>
          <p:nvPr/>
        </p:nvSpPr>
        <p:spPr>
          <a:xfrm>
            <a:off x="731520" y="1737360"/>
            <a:ext cx="517500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FUNCIONAMIENTO Y MECANISMO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Substring Común Máximo: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Encuentra la secuencia continua compartida más larga entre transmisiones.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Optimización Fila a Fila: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Conserva únicamente 2 filas de la matriz DP en lugar de la tabla completa.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Coordenadas de Coincidencia: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Identifica posiciones de inicio y fin en ambas transmisiones.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4"/>
          <p:cNvSpPr/>
          <p:nvPr/>
        </p:nvSpPr>
        <p:spPr>
          <a:xfrm>
            <a:off x="6278400" y="1737360"/>
            <a:ext cx="5175000" cy="20844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COMPLEJIDAD TEMPORAL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O(n × m)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Evaluación de pares de caracteres en transmission1.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5"/>
          <p:cNvSpPr/>
          <p:nvPr/>
        </p:nvSpPr>
        <p:spPr>
          <a:xfrm>
            <a:off x="6278400" y="4041720"/>
            <a:ext cx="5175000" cy="208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COMPLEJIDAD ESPACIAL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O(m)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Reducción de memoria de O(n × m) a solo 2 filas de tamaño m+1.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731520" y="457200"/>
            <a:ext cx="1072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VERIFICACIÓN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Resultados del Análisis y Validación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4" name="Table 3"/>
          <p:cNvGraphicFramePr/>
          <p:nvPr/>
        </p:nvGraphicFramePr>
        <p:xfrm>
          <a:off x="731520" y="1737360"/>
          <a:ext cx="10728360" cy="438876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011680"/>
                <a:gridCol w="3230280"/>
              </a:tblGrid>
              <a:tr h="877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Prueba / Algoritmo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Entrada Analizada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Resultado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Significado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877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Búsqueda KMP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mcode3.txt en transmission1.txt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2563EB"/>
                          </a:solidFill>
                          <a:effectLst/>
                          <a:uFillTx/>
                          <a:latin typeface="Arial"/>
                        </a:rPr>
                        <a:t>true 18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Coincidencia exacta en posición 18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7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Búsqueda KMP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mcode2.txt en transmission1.txt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2563EB"/>
                          </a:solidFill>
                          <a:effectLst/>
                          <a:uFillTx/>
                          <a:latin typeface="Arial"/>
                        </a:rPr>
                        <a:t>false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Patrón no presente en la transmisión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877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Manacher (Palíndromo)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transmission1.txt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2563EB"/>
                          </a:solidFill>
                          <a:effectLst/>
                          <a:uFillTx/>
                          <a:latin typeface="Arial"/>
                        </a:rPr>
                        <a:t>15 25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Código espejeado de pos 15 a pos 25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7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LCS (Similitud DP)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transmission1 y transmission2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2563EB"/>
                          </a:solidFill>
                          <a:effectLst/>
                          <a:uFillTx/>
                          <a:latin typeface="Arial"/>
                        </a:rPr>
                        <a:t>1 28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</a:rPr>
                        <a:t>Coincidencia continua de 28 caracteres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731520" y="457200"/>
            <a:ext cx="1072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CIERRE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Conclusiones y Propuesta de Trabajo Futuro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2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ounded Rectangle 3"/>
          <p:cNvSpPr/>
          <p:nvPr/>
        </p:nvSpPr>
        <p:spPr>
          <a:xfrm>
            <a:off x="731520" y="1737360"/>
            <a:ext cx="517500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AEE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CONCLUSIONES CLAVE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Eficiencia Algorítmica: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El uso de algoritmos O(n) evita búsquedas ineficientes cuadráticas.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Arquitectura Modular: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Diseño limpio en C++ que facilita mantenimiento e integración.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Arial"/>
              </a:rPr>
              <a:t>• Posiciones exactas: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   Mapeo exacto (base-1) para análisis rápido de incidencias.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4"/>
          <p:cNvSpPr/>
          <p:nvPr/>
        </p:nvSpPr>
        <p:spPr>
          <a:xfrm>
            <a:off x="6278400" y="1737360"/>
            <a:ext cx="5175000" cy="43887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TRABAJO FUTURO Y ESCALABILIDAD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Suffix Automaton: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   Sustituir DP O(n × m) por Automata de Sufijos para LCS en tiempo lineal O(n + m).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Análisis Multihilo: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   Procesamiento en paralelo de flujos de transmisiones simultáneos.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Monitoreo en Tiempo Real: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CBD5E1"/>
                </a:solidFill>
                <a:effectLst/>
                <a:uFillTx/>
                <a:latin typeface="Arial"/>
              </a:rPr>
              <a:t>   Integración con sockets de red para filtrado directo de tráfico.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2026-09-23T23:27:55Z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